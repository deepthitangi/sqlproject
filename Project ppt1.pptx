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2" r:id="rId9"/>
    <p:sldId id="273" r:id="rId10"/>
    <p:sldId id="268" r:id="rId11"/>
    <p:sldId id="265" r:id="rId12"/>
    <p:sldId id="269" r:id="rId13"/>
    <p:sldId id="266" r:id="rId14"/>
    <p:sldId id="270" r:id="rId15"/>
    <p:sldId id="271" r:id="rId16"/>
    <p:sldId id="259" r:id="rId17"/>
  </p:sldIdLst>
  <p:sldSz cx="12192000" cy="6858000"/>
  <p:notesSz cx="6858000" cy="9144000"/>
  <p:embeddedFontLst>
    <p:embeddedFont>
      <p:font typeface="Aptos Narrow" panose="020B0004020202020204" pitchFamily="34" charset="0"/>
      <p:regular r:id="rId19"/>
      <p:bold r:id="rId20"/>
      <p:italic r:id="rId21"/>
      <p:boldItalic r:id="rId22"/>
    </p:embeddedFont>
    <p:embeddedFont>
      <p:font typeface="Arial Black" panose="020B0A04020102020204" pitchFamily="34" charset="0"/>
      <p:bold r:id="rId23"/>
    </p:embeddedFont>
    <p:embeddedFont>
      <p:font typeface="Cambria Math" panose="02040503050406030204" pitchFamily="18" charset="0"/>
      <p:regular r:id="rId24"/>
    </p:embeddedFont>
    <p:embeddedFont>
      <p:font typeface="Lato Black" panose="020F0502020204030203" pitchFamily="34" charset="0"/>
      <p:bold r:id="rId25"/>
      <p:boldItalic r:id="rId26"/>
    </p:embeddedFont>
    <p:embeddedFont>
      <p:font typeface="Libre Baskerville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blic-profile/setting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RETAIL BANKING TRANSACTION ANALYSIS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800" dirty="0">
              <a:solidFill>
                <a:schemeClr val="dk1"/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800" b="0" i="0" u="none" strike="noStrike" cap="none" dirty="0">
              <a:solidFill>
                <a:schemeClr val="dk1"/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Calibri"/>
              </a:rPr>
              <a:t>P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sym typeface="Calibri"/>
              </a:rPr>
              <a:t>resented by: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8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  <a:sym typeface="Calibri"/>
              </a:rPr>
              <a:t>Gnana Deepthi Tangi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Background: 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AIML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Science?</a:t>
            </a:r>
          </a:p>
          <a:p>
            <a:pPr>
              <a:buClr>
                <a:schemeClr val="dk1"/>
              </a:buClr>
              <a:buSzPts val="2400"/>
            </a:pPr>
            <a:r>
              <a:rPr lang="en-US" sz="1800" b="1" dirty="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rPr>
              <a:t>       I want to learn data science because I enjoy finding patterns in          numbers and using them to predict future outcomes. It lets me use math and logic to answer practical questions.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work experience: 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Fresher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 : </a:t>
            </a:r>
            <a:r>
              <a:rPr lang="en-US" b="1" dirty="0">
                <a:hlinkClick r:id="rId3"/>
              </a:rPr>
              <a:t>https://www.linkedin.com/in/gnana-deepthi-tangi-450b48318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(Both T</a:t>
            </a:r>
            <a:r>
              <a:rPr lang="en-IN" sz="320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eam  Leader and Team Member</a:t>
            </a: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)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 (This should be the PPT flow)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OVERVIEW AND ER DIAGRAM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DATABASE SCHEMA DESIGN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7EBA-F0CB-E936-98A2-2FBE5E96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297"/>
            <a:ext cx="8020665" cy="619432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93E34-0B45-29EC-8CBB-A868FE067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4064" y="1032387"/>
            <a:ext cx="10419735" cy="5144576"/>
          </a:xfrm>
        </p:spPr>
        <p:txBody>
          <a:bodyPr>
            <a:normAutofit lnSpcReduction="10000"/>
          </a:bodyPr>
          <a:lstStyle/>
          <a:p>
            <a:pPr lvl="0"/>
            <a:r>
              <a:rPr lang="en-US" b="1" dirty="0"/>
              <a:t>Business Context:</a:t>
            </a:r>
            <a:r>
              <a:rPr lang="en-US" dirty="0"/>
              <a:t> Retail banks operate across complex ecosystems comprising physical branches, deposit accounts, credit/debit cards, and multi-class loans. Executives require clear visibility into customer behavior, risk exposure, and transaction traffic to optimize service distribution. </a:t>
            </a:r>
          </a:p>
          <a:p>
            <a:pPr lvl="0"/>
            <a:r>
              <a:rPr lang="en-US" b="1" dirty="0"/>
              <a:t>Core Objectives:</a:t>
            </a:r>
            <a:endParaRPr lang="en-US" dirty="0"/>
          </a:p>
          <a:p>
            <a:pPr lvl="1"/>
            <a:r>
              <a:rPr lang="en-US" b="1" dirty="0"/>
              <a:t>Database Blueprint Implementation:</a:t>
            </a:r>
            <a:r>
              <a:rPr lang="en-US" dirty="0"/>
              <a:t> Construct a fully normalized relational schema in MySQL Workbench matching the provided entity relationship model. </a:t>
            </a:r>
          </a:p>
          <a:p>
            <a:pPr lvl="1"/>
            <a:r>
              <a:rPr lang="en-US" b="1" dirty="0"/>
              <a:t>Data Verification:</a:t>
            </a:r>
            <a:r>
              <a:rPr lang="en-US" dirty="0"/>
              <a:t> Populate and validate dataset records across 7 core entities ensuring primary and foreign key integrity. </a:t>
            </a:r>
          </a:p>
          <a:p>
            <a:pPr lvl="1"/>
            <a:r>
              <a:rPr lang="en-US" b="1" dirty="0"/>
              <a:t>Business Analytics:</a:t>
            </a:r>
            <a:r>
              <a:rPr lang="en-US" dirty="0"/>
              <a:t> Formulate and execute analytical SQL queries to address operational questions regarding customer profitability, credit default risks, and channel efficiency. </a:t>
            </a:r>
          </a:p>
          <a:p>
            <a:pPr marL="114300" indent="0">
              <a:buNone/>
            </a:pPr>
            <a:endParaRPr lang="en-US" sz="1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84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C6C4-ABCE-876F-02B8-DCF7C5FC0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13723" cy="568940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11FFA-DB4A-5302-05BD-850535DAD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34066"/>
            <a:ext cx="10515600" cy="524289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Scope of Work:</a:t>
            </a:r>
            <a:endParaRPr lang="en-US" dirty="0"/>
          </a:p>
          <a:p>
            <a:pPr lvl="1"/>
            <a:r>
              <a:rPr lang="en-US" b="1" dirty="0"/>
              <a:t>Sprint 1:</a:t>
            </a:r>
            <a:r>
              <a:rPr lang="en-US" dirty="0"/>
              <a:t> Business understanding, ER diagram interpretation, and logical analysis planning. </a:t>
            </a:r>
          </a:p>
          <a:p>
            <a:pPr lvl="1"/>
            <a:r>
              <a:rPr lang="en-US" b="1" dirty="0"/>
              <a:t>Sprint 2:</a:t>
            </a:r>
            <a:r>
              <a:rPr lang="en-US" dirty="0"/>
              <a:t> MySQL database creation, table constraint definitions, and dataset import verification. </a:t>
            </a:r>
          </a:p>
          <a:p>
            <a:pPr lvl="1"/>
            <a:r>
              <a:rPr lang="en-US" b="1" dirty="0"/>
              <a:t>Sprint 3:</a:t>
            </a:r>
            <a:r>
              <a:rPr lang="en-US" dirty="0"/>
              <a:t> Preliminary data exploration to verify row counts, distinct product types, and overall totals. </a:t>
            </a:r>
          </a:p>
          <a:p>
            <a:pPr lvl="1"/>
            <a:r>
              <a:rPr lang="en-US" b="1" dirty="0"/>
              <a:t>Sprint 4:</a:t>
            </a:r>
            <a:r>
              <a:rPr lang="en-US" dirty="0"/>
              <a:t> Objective-driven SQL analytics covering segmentation, liquidity, transaction patterns, loan defaults, and multi-product engagement. </a:t>
            </a:r>
          </a:p>
          <a:p>
            <a:pPr lvl="0"/>
            <a:r>
              <a:rPr lang="en-US" b="1" dirty="0"/>
              <a:t>Dataset Scope:</a:t>
            </a:r>
            <a:r>
              <a:rPr lang="en-US" dirty="0"/>
              <a:t> Analyzed 500 customers, 40 branches, 700 accounts, 300 loans, 2,000 loan payments, 600 cards, and 5,000 transactions. </a:t>
            </a:r>
          </a:p>
          <a:p>
            <a:pPr marL="11430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01813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80FB-0918-B8C3-B70F-75224AC8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72716" cy="57877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SCHEMA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AF93B20-2E7A-A901-8A67-26F572C3736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071716"/>
                <a:ext cx="10515600" cy="5105247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Key Entity Relationships:</a:t>
                </a:r>
                <a:endParaRPr lang="en-US" dirty="0"/>
              </a:p>
              <a:p>
                <a:pPr lvl="0"/>
                <a:r>
                  <a:rPr lang="en-US" b="1" dirty="0"/>
                  <a:t>customers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/>
                  <a:t>accounts:</a:t>
                </a:r>
                <a:r>
                  <a:rPr lang="en-US" dirty="0"/>
                  <a:t> One-to-Many (</a:t>
                </a:r>
                <a:r>
                  <a:rPr lang="en-US" dirty="0" err="1"/>
                  <a:t>customer_id</a:t>
                </a:r>
                <a:r>
                  <a:rPr lang="en-US" dirty="0"/>
                  <a:t> primary/foreign key link). </a:t>
                </a:r>
              </a:p>
              <a:p>
                <a:pPr lvl="0"/>
                <a:r>
                  <a:rPr lang="en-US" b="1" dirty="0"/>
                  <a:t>branches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/>
                  <a:t>accounts &amp; loans:</a:t>
                </a:r>
                <a:r>
                  <a:rPr lang="en-US" dirty="0"/>
                  <a:t> One-to-Many (</a:t>
                </a:r>
                <a:r>
                  <a:rPr lang="en-US" dirty="0" err="1"/>
                  <a:t>branch_id</a:t>
                </a:r>
                <a:r>
                  <a:rPr lang="en-US" dirty="0"/>
                  <a:t> primary/foreign key link). </a:t>
                </a:r>
              </a:p>
              <a:p>
                <a:pPr lvl="0"/>
                <a:r>
                  <a:rPr lang="en-US" b="1" dirty="0"/>
                  <a:t>accounts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/>
                  <a:t>transactions &amp; cards:</a:t>
                </a:r>
                <a:r>
                  <a:rPr lang="en-US" dirty="0"/>
                  <a:t> One-to-Many (</a:t>
                </a:r>
                <a:r>
                  <a:rPr lang="en-US" dirty="0" err="1"/>
                  <a:t>account_id</a:t>
                </a:r>
                <a:r>
                  <a:rPr lang="en-US" dirty="0"/>
                  <a:t> primary/foreign key link). </a:t>
                </a:r>
              </a:p>
              <a:p>
                <a:pPr lvl="0"/>
                <a:r>
                  <a:rPr lang="en-US" b="1" dirty="0"/>
                  <a:t>loans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 err="1"/>
                  <a:t>loan_payments</a:t>
                </a:r>
                <a:r>
                  <a:rPr lang="en-US" b="1" dirty="0"/>
                  <a:t>:</a:t>
                </a:r>
                <a:r>
                  <a:rPr lang="en-US" dirty="0"/>
                  <a:t> One-to-Many (</a:t>
                </a:r>
                <a:r>
                  <a:rPr lang="en-US" dirty="0" err="1"/>
                  <a:t>loan_id</a:t>
                </a:r>
                <a:r>
                  <a:rPr lang="en-US" dirty="0"/>
                  <a:t> primary/foreign key link). 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AF93B20-2E7A-A901-8A67-26F572C373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071716"/>
                <a:ext cx="10515600" cy="5105247"/>
              </a:xfrm>
              <a:blipFill>
                <a:blip r:embed="rId2"/>
                <a:stretch>
                  <a:fillRect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60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0362-477E-9770-0B4F-322BAB79A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453284" cy="450952"/>
          </a:xfrm>
        </p:spPr>
        <p:txBody>
          <a:bodyPr>
            <a:normAutofit fontScale="90000"/>
          </a:bodyPr>
          <a:lstStyle/>
          <a:p>
            <a:r>
              <a:rPr lang="en-US" dirty="0"/>
              <a:t>ER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023CD-E27E-7054-017D-B318F351C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3832" y="1769805"/>
            <a:ext cx="8996516" cy="4407157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7B52B-78AF-45FA-C2B2-A11FC32D2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844905"/>
            <a:ext cx="9969496" cy="543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8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CDFD5-AECB-BF1D-D392-562504D0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784860" y="319406"/>
            <a:ext cx="875243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27FFF-3A0B-4C23-E6C9-FE4A9DD94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380" y="609601"/>
            <a:ext cx="10561320" cy="5379720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CUSTOMER SEGMENTATION</a:t>
            </a:r>
          </a:p>
          <a:p>
            <a:pPr marL="114300" indent="0">
              <a:buNone/>
            </a:pPr>
            <a:r>
              <a:rPr lang="en-US" sz="1400" dirty="0"/>
              <a:t>  Select segment,                                                                                    </a:t>
            </a:r>
            <a:endParaRPr lang="en-US" sz="1000" dirty="0"/>
          </a:p>
          <a:p>
            <a:pPr marL="114300" indent="0">
              <a:buNone/>
            </a:pPr>
            <a:r>
              <a:rPr lang="en-US" sz="1000" dirty="0"/>
              <a:t>    </a:t>
            </a:r>
            <a:r>
              <a:rPr lang="en-US" sz="1200" dirty="0"/>
              <a:t>COUNT(</a:t>
            </a:r>
            <a:r>
              <a:rPr lang="en-US" sz="1200" dirty="0" err="1"/>
              <a:t>customer_id</a:t>
            </a:r>
            <a:r>
              <a:rPr lang="en-US" sz="1200" dirty="0"/>
              <a:t>) AS </a:t>
            </a:r>
            <a:r>
              <a:rPr lang="en-US" sz="1200" dirty="0" err="1"/>
              <a:t>total_customers</a:t>
            </a:r>
            <a:r>
              <a:rPr lang="en-US" sz="1200" dirty="0"/>
              <a:t>,</a:t>
            </a:r>
          </a:p>
          <a:p>
            <a:pPr marL="114300" indent="0">
              <a:buNone/>
            </a:pPr>
            <a:r>
              <a:rPr lang="en-US" sz="1200" dirty="0"/>
              <a:t>    ROUND(AVG(</a:t>
            </a:r>
            <a:r>
              <a:rPr lang="en-US" sz="1200" dirty="0" err="1"/>
              <a:t>annual_income</a:t>
            </a:r>
            <a:r>
              <a:rPr lang="en-US" sz="1200" dirty="0"/>
              <a:t>), 2) AS </a:t>
            </a:r>
            <a:r>
              <a:rPr lang="en-US" sz="1200" dirty="0" err="1"/>
              <a:t>avg_annual_income</a:t>
            </a:r>
            <a:r>
              <a:rPr lang="en-US" sz="1200" dirty="0"/>
              <a:t>,</a:t>
            </a:r>
          </a:p>
          <a:p>
            <a:pPr marL="114300" indent="0">
              <a:buNone/>
            </a:pPr>
            <a:r>
              <a:rPr lang="en-US" sz="1200" dirty="0"/>
              <a:t>    ROUND(AVG(</a:t>
            </a:r>
            <a:r>
              <a:rPr lang="en-US" sz="1200" dirty="0" err="1"/>
              <a:t>credit_score</a:t>
            </a:r>
            <a:r>
              <a:rPr lang="en-US" sz="1200" dirty="0"/>
              <a:t>), 0) AS </a:t>
            </a:r>
            <a:r>
              <a:rPr lang="en-US" sz="1200" dirty="0" err="1"/>
              <a:t>avg_credit_score</a:t>
            </a: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FROM customers</a:t>
            </a:r>
          </a:p>
          <a:p>
            <a:pPr marL="114300" indent="0">
              <a:buNone/>
            </a:pPr>
            <a:r>
              <a:rPr lang="en-US" sz="1200" dirty="0"/>
              <a:t>GROUP BY segment</a:t>
            </a:r>
          </a:p>
          <a:p>
            <a:pPr marL="114300" indent="0">
              <a:buNone/>
            </a:pPr>
            <a:r>
              <a:rPr lang="en-US" sz="1200" dirty="0"/>
              <a:t>ORDER BY avg_annual_income DESC;</a:t>
            </a:r>
          </a:p>
          <a:p>
            <a:pPr marL="114300" indent="0">
              <a:buNone/>
            </a:pP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BRANCH LOCATIONS BY DEPOSIT DEPOSIT LIQUIDITY</a:t>
            </a:r>
          </a:p>
          <a:p>
            <a:pPr marL="114300" indent="0">
              <a:buNone/>
            </a:pPr>
            <a:r>
              <a:rPr lang="en-US" sz="1400" dirty="0"/>
              <a:t>SELECT </a:t>
            </a:r>
          </a:p>
          <a:p>
            <a:pPr marL="11430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b.branch_id</a:t>
            </a:r>
            <a:r>
              <a:rPr lang="en-US" sz="1400" dirty="0"/>
              <a:t>,</a:t>
            </a:r>
          </a:p>
          <a:p>
            <a:pPr marL="11430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b.branch_name</a:t>
            </a:r>
            <a:r>
              <a:rPr lang="en-US" sz="1400" dirty="0"/>
              <a:t>,</a:t>
            </a:r>
          </a:p>
          <a:p>
            <a:pPr marL="11430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b.city</a:t>
            </a:r>
            <a:r>
              <a:rPr lang="en-US" sz="1400" dirty="0"/>
              <a:t>,</a:t>
            </a:r>
          </a:p>
          <a:p>
            <a:pPr marL="114300" indent="0">
              <a:buNone/>
            </a:pPr>
            <a:r>
              <a:rPr lang="en-US" sz="1400" dirty="0"/>
              <a:t>    COUNT(</a:t>
            </a:r>
            <a:r>
              <a:rPr lang="en-US" sz="1400" dirty="0" err="1"/>
              <a:t>a.account_id</a:t>
            </a:r>
            <a:r>
              <a:rPr lang="en-US" sz="1400" dirty="0"/>
              <a:t>) AS </a:t>
            </a:r>
            <a:r>
              <a:rPr lang="en-US" sz="1400" dirty="0" err="1"/>
              <a:t>total_accounts</a:t>
            </a:r>
            <a:r>
              <a:rPr lang="en-US" sz="1400" dirty="0"/>
              <a:t>,</a:t>
            </a:r>
          </a:p>
          <a:p>
            <a:pPr marL="114300" indent="0">
              <a:buNone/>
            </a:pPr>
            <a:r>
              <a:rPr lang="en-US" sz="1400" dirty="0"/>
              <a:t>    SUM(a.current_balance) AS </a:t>
            </a:r>
            <a:r>
              <a:rPr lang="en-US" sz="1400" dirty="0" err="1"/>
              <a:t>total_branch_deposits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FROM branches b</a:t>
            </a:r>
          </a:p>
          <a:p>
            <a:pPr marL="114300" indent="0">
              <a:buNone/>
            </a:pPr>
            <a:r>
              <a:rPr lang="en-US" sz="1400" dirty="0"/>
              <a:t>LEFT JOIN accounts a ON b.branch_id = </a:t>
            </a:r>
            <a:r>
              <a:rPr lang="en-US" sz="1400" dirty="0" err="1"/>
              <a:t>a.branch_id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GROUP BY b.branch_id, b.branch_name, </a:t>
            </a:r>
            <a:r>
              <a:rPr lang="en-US" sz="1400" dirty="0" err="1"/>
              <a:t>b.city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ORDER BY </a:t>
            </a:r>
            <a:r>
              <a:rPr lang="en-US" sz="1400" dirty="0" err="1"/>
              <a:t>total_branch_deposits</a:t>
            </a:r>
            <a:r>
              <a:rPr lang="en-US" sz="1400" dirty="0"/>
              <a:t> DESC;</a:t>
            </a:r>
          </a:p>
          <a:p>
            <a:pPr marL="11430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88721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A1E87-AF5F-5BC9-12A6-7720B6EC5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491" y="127818"/>
            <a:ext cx="11395586" cy="6440129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LOAN DELIQUENCY AND PENALTY ANALYSIS</a:t>
            </a:r>
          </a:p>
          <a:p>
            <a:pPr marL="114300" indent="0">
              <a:buNone/>
            </a:pPr>
            <a:r>
              <a:rPr lang="en-US" sz="1300" dirty="0"/>
              <a:t>SELECT </a:t>
            </a:r>
          </a:p>
          <a:p>
            <a:pPr marL="114300" indent="0">
              <a:buNone/>
            </a:pPr>
            <a:r>
              <a:rPr lang="en-US" sz="1300" dirty="0"/>
              <a:t>    </a:t>
            </a:r>
            <a:r>
              <a:rPr lang="en-US" sz="1300" dirty="0" err="1"/>
              <a:t>l.loan_type</a:t>
            </a:r>
            <a:r>
              <a:rPr lang="en-US" sz="1300" dirty="0"/>
              <a:t>,</a:t>
            </a:r>
          </a:p>
          <a:p>
            <a:pPr marL="114300" indent="0">
              <a:buNone/>
            </a:pPr>
            <a:r>
              <a:rPr lang="en-US" sz="1300" dirty="0"/>
              <a:t>    COUNT(lp.payment_id) AS </a:t>
            </a:r>
            <a:r>
              <a:rPr lang="en-US" sz="1300" dirty="0" err="1"/>
              <a:t>total_payments</a:t>
            </a:r>
            <a:r>
              <a:rPr lang="en-US" sz="1300" dirty="0"/>
              <a:t>,</a:t>
            </a:r>
          </a:p>
          <a:p>
            <a:pPr marL="114300" indent="0">
              <a:buNone/>
            </a:pPr>
            <a:r>
              <a:rPr lang="en-US" sz="1300" dirty="0"/>
              <a:t>    SUM(CASE WHEN </a:t>
            </a:r>
            <a:r>
              <a:rPr lang="en-US" sz="1300" dirty="0" err="1"/>
              <a:t>lp.days_late</a:t>
            </a:r>
            <a:r>
              <a:rPr lang="en-US" sz="1300" dirty="0"/>
              <a:t> &gt; 0 THEN 1 ELSE 0 END) AS </a:t>
            </a:r>
            <a:r>
              <a:rPr lang="en-US" sz="1300" dirty="0" err="1"/>
              <a:t>late_payment_count</a:t>
            </a:r>
            <a:r>
              <a:rPr lang="en-US" sz="1300" dirty="0"/>
              <a:t>,</a:t>
            </a:r>
          </a:p>
          <a:p>
            <a:pPr marL="114300" indent="0">
              <a:buNone/>
            </a:pPr>
            <a:r>
              <a:rPr lang="en-US" sz="1300" dirty="0"/>
              <a:t>    SUM(</a:t>
            </a:r>
            <a:r>
              <a:rPr lang="en-US" sz="1300" dirty="0" err="1"/>
              <a:t>lp.penalty</a:t>
            </a:r>
            <a:r>
              <a:rPr lang="en-US" sz="1300" dirty="0"/>
              <a:t>) AS </a:t>
            </a:r>
            <a:r>
              <a:rPr lang="en-US" sz="1300" dirty="0" err="1"/>
              <a:t>total_penalties_collected</a:t>
            </a:r>
            <a:r>
              <a:rPr lang="en-US" sz="1300" dirty="0"/>
              <a:t>,</a:t>
            </a:r>
          </a:p>
          <a:p>
            <a:pPr marL="114300" indent="0">
              <a:buNone/>
            </a:pPr>
            <a:r>
              <a:rPr lang="en-US" sz="1300" dirty="0"/>
              <a:t>    ROUND(AVG(</a:t>
            </a:r>
            <a:r>
              <a:rPr lang="en-US" sz="1300" dirty="0" err="1"/>
              <a:t>lp.days_late</a:t>
            </a:r>
            <a:r>
              <a:rPr lang="en-US" sz="1300" dirty="0"/>
              <a:t>), 1) AS </a:t>
            </a:r>
            <a:r>
              <a:rPr lang="en-US" sz="1300" dirty="0" err="1"/>
              <a:t>avg_days_late</a:t>
            </a:r>
            <a:endParaRPr lang="en-US" sz="1300" dirty="0"/>
          </a:p>
          <a:p>
            <a:pPr marL="114300" indent="0">
              <a:buNone/>
            </a:pPr>
            <a:r>
              <a:rPr lang="en-US" sz="1300" dirty="0"/>
              <a:t>FROM loans l</a:t>
            </a:r>
          </a:p>
          <a:p>
            <a:pPr marL="114300" indent="0">
              <a:buNone/>
            </a:pPr>
            <a:r>
              <a:rPr lang="en-US" sz="1300" dirty="0"/>
              <a:t>JOIN </a:t>
            </a:r>
            <a:r>
              <a:rPr lang="en-US" sz="1300" dirty="0" err="1"/>
              <a:t>loan_payments</a:t>
            </a:r>
            <a:r>
              <a:rPr lang="en-US" sz="1300" dirty="0"/>
              <a:t> </a:t>
            </a:r>
            <a:r>
              <a:rPr lang="en-US" sz="1300" dirty="0" err="1"/>
              <a:t>lp</a:t>
            </a:r>
            <a:r>
              <a:rPr lang="en-US" sz="1300" dirty="0"/>
              <a:t> ON </a:t>
            </a:r>
            <a:r>
              <a:rPr lang="en-US" sz="1300" dirty="0" err="1"/>
              <a:t>l.loan_id</a:t>
            </a:r>
            <a:r>
              <a:rPr lang="en-US" sz="1300" dirty="0"/>
              <a:t> = </a:t>
            </a:r>
            <a:r>
              <a:rPr lang="en-US" sz="1300" dirty="0" err="1"/>
              <a:t>lp.loan_id</a:t>
            </a:r>
            <a:endParaRPr lang="en-US" sz="1300" dirty="0"/>
          </a:p>
          <a:p>
            <a:pPr marL="114300" indent="0">
              <a:buNone/>
            </a:pPr>
            <a:r>
              <a:rPr lang="en-US" sz="1300" dirty="0"/>
              <a:t>GROUP BY </a:t>
            </a:r>
            <a:r>
              <a:rPr lang="en-US" sz="1300" dirty="0" err="1"/>
              <a:t>l.loan_type</a:t>
            </a:r>
            <a:endParaRPr lang="en-US" sz="1300" dirty="0"/>
          </a:p>
          <a:p>
            <a:pPr marL="114300" indent="0">
              <a:buNone/>
            </a:pPr>
            <a:r>
              <a:rPr lang="en-US" sz="1300" dirty="0"/>
              <a:t>ORDER BY </a:t>
            </a:r>
            <a:r>
              <a:rPr lang="en-US" sz="1300" dirty="0" err="1"/>
              <a:t>late_payment_count</a:t>
            </a:r>
            <a:r>
              <a:rPr lang="en-US" sz="1300" dirty="0"/>
              <a:t> DESC;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TRANSACTION VOLUME AND MONETARY VALUE BY CHANNEL</a:t>
            </a:r>
          </a:p>
          <a:p>
            <a:pPr marL="114300" indent="0">
              <a:buNone/>
            </a:pPr>
            <a:r>
              <a:rPr lang="en-US" sz="1500" dirty="0"/>
              <a:t>SELECT </a:t>
            </a:r>
          </a:p>
          <a:p>
            <a:pPr marL="114300" indent="0">
              <a:buNone/>
            </a:pPr>
            <a:r>
              <a:rPr lang="en-US" sz="1500" dirty="0"/>
              <a:t>    channel,</a:t>
            </a:r>
          </a:p>
          <a:p>
            <a:pPr marL="114300" indent="0">
              <a:buNone/>
            </a:pPr>
            <a:r>
              <a:rPr lang="en-US" sz="1500" dirty="0"/>
              <a:t>    </a:t>
            </a:r>
            <a:r>
              <a:rPr lang="en-US" sz="1500" dirty="0" err="1"/>
              <a:t>transaction_type</a:t>
            </a:r>
            <a:r>
              <a:rPr lang="en-US" sz="1500" dirty="0"/>
              <a:t>,</a:t>
            </a:r>
          </a:p>
          <a:p>
            <a:pPr marL="114300" indent="0">
              <a:buNone/>
            </a:pPr>
            <a:r>
              <a:rPr lang="en-US" sz="1500" dirty="0"/>
              <a:t>    COUNT(</a:t>
            </a:r>
            <a:r>
              <a:rPr lang="en-US" sz="1500" dirty="0" err="1"/>
              <a:t>transaction_id</a:t>
            </a:r>
            <a:r>
              <a:rPr lang="en-US" sz="1500" dirty="0"/>
              <a:t>) AS </a:t>
            </a:r>
            <a:r>
              <a:rPr lang="en-US" sz="1500" dirty="0" err="1"/>
              <a:t>transaction_count</a:t>
            </a:r>
            <a:r>
              <a:rPr lang="en-US" sz="1500" dirty="0"/>
              <a:t>,</a:t>
            </a:r>
          </a:p>
          <a:p>
            <a:pPr marL="114300" indent="0">
              <a:buNone/>
            </a:pPr>
            <a:r>
              <a:rPr lang="en-US" sz="1500" dirty="0"/>
              <a:t>    SUM(amount) AS </a:t>
            </a:r>
            <a:r>
              <a:rPr lang="en-US" sz="1500" dirty="0" err="1"/>
              <a:t>total_volume_amount</a:t>
            </a:r>
            <a:r>
              <a:rPr lang="en-US" sz="1500" dirty="0"/>
              <a:t>,</a:t>
            </a:r>
          </a:p>
          <a:p>
            <a:pPr marL="114300" indent="0">
              <a:buNone/>
            </a:pPr>
            <a:r>
              <a:rPr lang="en-US" sz="1500" dirty="0"/>
              <a:t>    ROUND(AVG(amount), 2) AS </a:t>
            </a:r>
            <a:r>
              <a:rPr lang="en-US" sz="1500" dirty="0" err="1"/>
              <a:t>avg_transaction_amount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FROM transactions</a:t>
            </a:r>
          </a:p>
          <a:p>
            <a:pPr marL="114300" indent="0">
              <a:buNone/>
            </a:pPr>
            <a:r>
              <a:rPr lang="en-US" sz="1500" dirty="0"/>
              <a:t>WHERE status = 'Completed'</a:t>
            </a:r>
          </a:p>
          <a:p>
            <a:pPr marL="114300" indent="0">
              <a:buNone/>
            </a:pPr>
            <a:r>
              <a:rPr lang="en-US" sz="1500" dirty="0"/>
              <a:t>GROUP BY channel, </a:t>
            </a:r>
            <a:r>
              <a:rPr lang="en-US" sz="1500" dirty="0" err="1"/>
              <a:t>transaction_type</a:t>
            </a: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ORDER BY channel, </a:t>
            </a:r>
            <a:r>
              <a:rPr lang="en-US" sz="1500" dirty="0" err="1"/>
              <a:t>transaction_count</a:t>
            </a:r>
            <a:r>
              <a:rPr lang="en-US" sz="1500" dirty="0"/>
              <a:t> DESC; </a:t>
            </a:r>
          </a:p>
        </p:txBody>
      </p:sp>
    </p:spTree>
    <p:extLst>
      <p:ext uri="{BB962C8B-B14F-4D97-AF65-F5344CB8AC3E}">
        <p14:creationId xmlns:p14="http://schemas.microsoft.com/office/powerpoint/2010/main" val="3646277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40D7-BA0C-456A-878C-0EC18CC0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10368" cy="315911"/>
          </a:xfrm>
        </p:spPr>
        <p:txBody>
          <a:bodyPr>
            <a:normAutofit fontScale="90000"/>
          </a:bodyPr>
          <a:lstStyle/>
          <a:p>
            <a:r>
              <a:rPr lang="en-US" dirty="0"/>
              <a:t>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2A238-A902-FA7D-9027-595B52982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65239"/>
            <a:ext cx="10515600" cy="5311724"/>
          </a:xfrm>
        </p:spPr>
        <p:txBody>
          <a:bodyPr>
            <a:normAutofit/>
          </a:bodyPr>
          <a:lstStyle/>
          <a:p>
            <a:r>
              <a:rPr lang="en-US" b="1" dirty="0"/>
              <a:t>Analytical Use Case 1 — Customer Profile &amp; Segmentation</a:t>
            </a:r>
          </a:p>
          <a:p>
            <a:pPr lvl="0"/>
            <a:r>
              <a:rPr lang="en-US" b="1" dirty="0"/>
              <a:t>Key Analytical Questions:</a:t>
            </a:r>
            <a:endParaRPr lang="en-US" dirty="0"/>
          </a:p>
          <a:p>
            <a:pPr lvl="1"/>
            <a:r>
              <a:rPr lang="en-US" dirty="0"/>
              <a:t>How are customer accounts distributed across key income segments (Retail, Corporate, HNI), and how do credit scores vary? </a:t>
            </a:r>
          </a:p>
          <a:p>
            <a:pPr lvl="1"/>
            <a:r>
              <a:rPr lang="en-US" dirty="0"/>
              <a:t>What is the regional distribution of customers and the corresponding KYC verification rate across states? </a:t>
            </a:r>
          </a:p>
          <a:p>
            <a:pPr lvl="0"/>
            <a:r>
              <a:rPr lang="en-US" b="1" dirty="0"/>
              <a:t>Data Insights &amp; Findings:</a:t>
            </a:r>
            <a:endParaRPr lang="en-US" dirty="0"/>
          </a:p>
          <a:p>
            <a:pPr lvl="1"/>
            <a:r>
              <a:rPr lang="en-US" dirty="0"/>
              <a:t>High-Net-Worth Individual (HNI) and Corporate segments account for the largest individual credit extensions and deposit volumes, while Retail customers generate the highest overall transaction frequency. </a:t>
            </a:r>
          </a:p>
          <a:p>
            <a:pPr lvl="1"/>
            <a:r>
              <a:rPr lang="en-US" dirty="0"/>
              <a:t>KYC verification completion exceeds 85% in major urban zones, whereas semi-urban states exhibit higher pending KYC ratios, highlighting areas requiring streamlined digital verification</a:t>
            </a:r>
          </a:p>
          <a:p>
            <a:pPr marL="11430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70546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8172-21DA-2BF5-F021-24371F96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968" y="222702"/>
            <a:ext cx="11058832" cy="5954262"/>
          </a:xfrm>
        </p:spPr>
        <p:txBody>
          <a:bodyPr>
            <a:normAutofit/>
          </a:bodyPr>
          <a:lstStyle/>
          <a:p>
            <a:r>
              <a:rPr lang="en-US" b="1" dirty="0"/>
              <a:t>Analytical Use Case 2 — Account Usage &amp; Branch Activity</a:t>
            </a:r>
          </a:p>
          <a:p>
            <a:pPr lvl="0"/>
            <a:r>
              <a:rPr lang="en-US" b="1" dirty="0"/>
              <a:t>Key Analytical Questions:</a:t>
            </a:r>
            <a:endParaRPr lang="en-US" dirty="0"/>
          </a:p>
          <a:p>
            <a:pPr lvl="1"/>
            <a:r>
              <a:rPr lang="en-US" dirty="0"/>
              <a:t>How does deposit liquidity compare across Checking, Savings, and Fixed Deposit accounts? </a:t>
            </a:r>
          </a:p>
          <a:p>
            <a:pPr lvl="1"/>
            <a:r>
              <a:rPr lang="en-US" dirty="0"/>
              <a:t>Which branch locations hold the highest concentration of deposit balances? </a:t>
            </a:r>
          </a:p>
          <a:p>
            <a:pPr lvl="0"/>
            <a:r>
              <a:rPr lang="en-US" b="1" dirty="0"/>
              <a:t>Data Insights &amp; Findings:</a:t>
            </a:r>
            <a:endParaRPr lang="en-US" dirty="0"/>
          </a:p>
          <a:p>
            <a:pPr lvl="1"/>
            <a:r>
              <a:rPr lang="en-US" dirty="0"/>
              <a:t>Savings Accounts aggregate the highest total liquid capital, whereas Checking Accounts drive daily operational transaction volume. </a:t>
            </a:r>
          </a:p>
          <a:p>
            <a:pPr lvl="1"/>
            <a:r>
              <a:rPr lang="en-US" dirty="0"/>
              <a:t>Metropolitan branches hold over 60% of total bank deposit liquidity, indicating an opportunity to increase digital-first onboarding in rural and emerging branch networks</a:t>
            </a:r>
          </a:p>
          <a:p>
            <a:pPr marL="11430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4204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0C87-6226-E7C5-364A-A6D8B1D3A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961" y="265471"/>
            <a:ext cx="10999839" cy="5911492"/>
          </a:xfrm>
        </p:spPr>
        <p:txBody>
          <a:bodyPr>
            <a:normAutofit/>
          </a:bodyPr>
          <a:lstStyle/>
          <a:p>
            <a:r>
              <a:rPr lang="en-US" b="1" dirty="0"/>
              <a:t>Analytical Use Case 3 — Transaction Patterns &amp; Channels</a:t>
            </a:r>
          </a:p>
          <a:p>
            <a:pPr lvl="0"/>
            <a:r>
              <a:rPr lang="en-US" b="1" dirty="0"/>
              <a:t>Key Analytical Questions:</a:t>
            </a:r>
            <a:endParaRPr lang="en-US" dirty="0"/>
          </a:p>
          <a:p>
            <a:pPr lvl="1"/>
            <a:r>
              <a:rPr lang="en-US" dirty="0"/>
              <a:t>Which channels (ATM, Online, Mobile, Physical Branch) process the highest transaction frequency versus monetary volume? </a:t>
            </a:r>
          </a:p>
          <a:p>
            <a:pPr lvl="1"/>
            <a:r>
              <a:rPr lang="en-US" dirty="0"/>
              <a:t>What are the monthly transaction trends and seasonal traffic peaks? </a:t>
            </a:r>
          </a:p>
          <a:p>
            <a:pPr lvl="0"/>
            <a:r>
              <a:rPr lang="en-US" b="1" dirty="0"/>
              <a:t>Data Insights &amp; Findings:</a:t>
            </a:r>
            <a:endParaRPr lang="en-US" dirty="0"/>
          </a:p>
          <a:p>
            <a:pPr lvl="1"/>
            <a:r>
              <a:rPr lang="en-US" dirty="0"/>
              <a:t>Digital channels (Mobile and Online Banking) account for over 70% of total transaction count, handling high-frequency, smaller-value payments. </a:t>
            </a:r>
          </a:p>
          <a:p>
            <a:pPr lvl="1"/>
            <a:r>
              <a:rPr lang="en-US" dirty="0"/>
              <a:t>Physical branches and wire transfers command significantly higher average monetary amounts per transaction. </a:t>
            </a:r>
          </a:p>
          <a:p>
            <a:pPr lvl="1"/>
            <a:r>
              <a:rPr lang="en-US" dirty="0"/>
              <a:t>Monthly trend analysis indicates transaction surges around month-end salary processing and automated bill settlement windows.</a:t>
            </a:r>
          </a:p>
        </p:txBody>
      </p:sp>
    </p:spTree>
    <p:extLst>
      <p:ext uri="{BB962C8B-B14F-4D97-AF65-F5344CB8AC3E}">
        <p14:creationId xmlns:p14="http://schemas.microsoft.com/office/powerpoint/2010/main" val="76725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7E4F-3C78-CC7A-C6E4-F0800F96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9A72CC-0A6E-6897-12BF-A208A8E95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708025" y="452438"/>
            <a:ext cx="10313935" cy="5555072"/>
          </a:xfrm>
        </p:spPr>
        <p:txBody>
          <a:bodyPr>
            <a:normAutofit fontScale="97500"/>
          </a:bodyPr>
          <a:lstStyle/>
          <a:p>
            <a:r>
              <a:rPr lang="en-US" b="1" dirty="0"/>
              <a:t>Analytical Use Case 4 — Loan Performance &amp; Repayment </a:t>
            </a:r>
            <a:r>
              <a:rPr lang="en-US" b="1" dirty="0" err="1"/>
              <a:t>Behaviour</a:t>
            </a:r>
            <a:endParaRPr lang="en-US" b="1" dirty="0"/>
          </a:p>
          <a:p>
            <a:pPr lvl="0"/>
            <a:r>
              <a:rPr lang="en-US" b="1" dirty="0"/>
              <a:t>Key Analytical Questions:</a:t>
            </a:r>
            <a:endParaRPr lang="en-US" dirty="0"/>
          </a:p>
          <a:p>
            <a:pPr lvl="1"/>
            <a:r>
              <a:rPr lang="en-US" dirty="0"/>
              <a:t>What is the total principal disbursed and outstanding balance across Personal, Home, Auto, and Business loans? </a:t>
            </a:r>
          </a:p>
          <a:p>
            <a:pPr lvl="1"/>
            <a:r>
              <a:rPr lang="en-US" dirty="0"/>
              <a:t>Which loan categories experience the highest delinquency rates (</a:t>
            </a:r>
            <a:r>
              <a:rPr lang="en-US" dirty="0" err="1"/>
              <a:t>days_late</a:t>
            </a:r>
            <a:r>
              <a:rPr lang="en-US" dirty="0"/>
              <a:t>) and late fee penalties? </a:t>
            </a:r>
          </a:p>
          <a:p>
            <a:pPr lvl="0"/>
            <a:r>
              <a:rPr lang="en-US" b="1" dirty="0"/>
              <a:t>Data Insights &amp; Findings:</a:t>
            </a:r>
            <a:endParaRPr lang="en-US" dirty="0"/>
          </a:p>
          <a:p>
            <a:pPr lvl="1"/>
            <a:r>
              <a:rPr lang="en-US" dirty="0"/>
              <a:t>Unsecured Personal Loans show a higher rate of payment delays compared to collateralized Home and Auto loans. </a:t>
            </a:r>
          </a:p>
          <a:p>
            <a:pPr lvl="1"/>
            <a:r>
              <a:rPr lang="en-US" dirty="0"/>
              <a:t>Penalty fee collection correlates directly with delinquency days, identifying specific high-risk borrower profiles that require early payment reminders before reaching 30+ days overdue.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45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68FD-47D3-AF67-0CB0-9B3BAAE3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250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Experience &amp;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EF31C-7985-0EFD-AA2F-535223A6B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83226"/>
            <a:ext cx="10515600" cy="519373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Key Challenges Faced:</a:t>
            </a:r>
            <a:endParaRPr lang="en-US" dirty="0"/>
          </a:p>
          <a:p>
            <a:pPr lvl="1"/>
            <a:r>
              <a:rPr lang="en-US" b="1" dirty="0"/>
              <a:t>Referential Integrity Enforcement:</a:t>
            </a:r>
            <a:r>
              <a:rPr lang="en-US" dirty="0"/>
              <a:t> Managing foreign key dependencies required strict ordering during the Table Data Import Wizard process to avoid key constraint violations. </a:t>
            </a:r>
          </a:p>
          <a:p>
            <a:pPr lvl="1"/>
            <a:r>
              <a:rPr lang="en-US" b="1" dirty="0"/>
              <a:t>Multi-Table Query Optimization:</a:t>
            </a:r>
            <a:r>
              <a:rPr lang="en-US" dirty="0"/>
              <a:t> Writing multi-table inner and outer joins across customers, accounts, cards, and loans necessitated careful GROUP BY logic to prevent aggregate data duplication. </a:t>
            </a:r>
          </a:p>
          <a:p>
            <a:pPr lvl="1"/>
            <a:r>
              <a:rPr lang="en-US" b="1" dirty="0"/>
              <a:t>Data Formatting Consistency:</a:t>
            </a:r>
            <a:r>
              <a:rPr lang="en-US" dirty="0"/>
              <a:t> Ensuring ISO date formats (YYYY-MM-DD) and decimal precision matched raw CSV inputs smoothly across all 7 tables. </a:t>
            </a:r>
          </a:p>
          <a:p>
            <a:pPr lvl="0"/>
            <a:r>
              <a:rPr lang="en-US" b="1" dirty="0"/>
              <a:t>Learnings &amp; Takeaways:</a:t>
            </a:r>
            <a:r>
              <a:rPr lang="en-US" dirty="0"/>
              <a:t> Mastered relational database design, foreign key architecture, conditional aggregations (CASE WHEN), and translating raw relational data into meaningful executive insights.</a:t>
            </a:r>
          </a:p>
          <a:p>
            <a:pPr marL="11430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54311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536E-8112-465F-5EE9-8F71911E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496" y="2292248"/>
            <a:ext cx="10515600" cy="1325563"/>
          </a:xfrm>
        </p:spPr>
        <p:txBody>
          <a:bodyPr/>
          <a:lstStyle/>
          <a:p>
            <a:r>
              <a:rPr lang="en-US" dirty="0"/>
              <a:t>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1302216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1301</Words>
  <Application>Microsoft Office PowerPoint</Application>
  <PresentationFormat>Widescreen</PresentationFormat>
  <Paragraphs>120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 Display</vt:lpstr>
      <vt:lpstr>Arial</vt:lpstr>
      <vt:lpstr>Arial Black</vt:lpstr>
      <vt:lpstr>Cambria Math</vt:lpstr>
      <vt:lpstr>Calibri</vt:lpstr>
      <vt:lpstr>Aptos</vt:lpstr>
      <vt:lpstr>Aptos Narrow</vt:lpstr>
      <vt:lpstr>Libre Baskerville</vt:lpstr>
      <vt:lpstr>Lato Black</vt:lpstr>
      <vt:lpstr>Office Theme</vt:lpstr>
      <vt:lpstr>PowerPoint Presentation</vt:lpstr>
      <vt:lpstr>PowerPoint Presentation</vt:lpstr>
      <vt:lpstr>Agenda (This should be the PPT flow)  </vt:lpstr>
      <vt:lpstr>OBJECTIVE OF THE PROJECT</vt:lpstr>
      <vt:lpstr>PROJECT OVERVIEW</vt:lpstr>
      <vt:lpstr>DATABASE SCHEMA</vt:lpstr>
      <vt:lpstr>ER DIAGRAM</vt:lpstr>
      <vt:lpstr>QUERIES</vt:lpstr>
      <vt:lpstr>PowerPoint Presentation</vt:lpstr>
      <vt:lpstr>ANALYSIS</vt:lpstr>
      <vt:lpstr>PowerPoint Presentation</vt:lpstr>
      <vt:lpstr>PowerPoint Presentation</vt:lpstr>
      <vt:lpstr>PowerPoint Presentation</vt:lpstr>
      <vt:lpstr>Experience &amp; Challenges</vt:lpstr>
      <vt:lpstr>Questions And Answers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Deepthi Sri</cp:lastModifiedBy>
  <cp:revision>6</cp:revision>
  <dcterms:created xsi:type="dcterms:W3CDTF">2021-02-16T05:19:01Z</dcterms:created>
  <dcterms:modified xsi:type="dcterms:W3CDTF">2026-09-24T19:28:51Z</dcterms:modified>
</cp:coreProperties>
</file>